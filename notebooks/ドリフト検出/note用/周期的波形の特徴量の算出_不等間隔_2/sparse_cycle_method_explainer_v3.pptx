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synthetic-data assets generated in this chat: single_cycle_harmonic_fit_demo_tall.png, base_waveform_used_tall.png.
- No external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synthetic-data asset: sampling_positions_arc140_tall.png.
- No external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synthetic-data assets: single_cycle_harmonic_fit_demo_tall.png, single_cycle_residual_demo_tall.png.
- No external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sources. This slide explains the internal logic of the proposed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synthetic-data assets: feature_level_shift_demo_tall.png, feature_amp_scale_demo_tall.png.
- No external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synthetic-data assets: feature_phase_shift_demo_tall.png, feature_freq_change_demo_tall.png.
- No external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synthetic-data assets: feature_residual_demo_tall.png, sampling_positions_arc140_tall.png.
- No external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synthetic-data assets: sampling_positions_covfix_uniform_tall.png, sampling_positions_arc300_tall.png, sampling_positions_arc140_tall.png.
- No external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synthetic-data assets: total_score_covfix_uniform_tall.png, labelwise_detection_covfix_uniform_tall.png.
- KPI values are from the internal synthetic experiment in controlled_factor_separation_summary.csv.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synthetic-data assets: same_coverage_irregularity_compare_tall.png, coverage_only_compare_tall.png, sampling_positions_covfix_irregular_tall.png, sampling_positions_arc140_tall.png.
- KPI values are from the internal synthetic experiment in controlled_factor_separation_summary.csv.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86868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疎サンプリング1サイクル波形の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異常検知手法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2011680"/>
            <a:ext cx="40233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目的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・疎な1サイクル波形から異常を検知できるか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・なぜこの方法でいけるのかを上司に説明する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3657600"/>
            <a:ext cx="4114800" cy="914400"/>
          </a:xfrm>
          <a:prstGeom prst="roundRect">
            <a:avLst>
              <a:gd name="adj" fmla="val 400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3749040"/>
            <a:ext cx="385876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結論先取り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905256" y="3931920"/>
            <a:ext cx="385876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1サイクル全体をある程度カバーしていれば、低次の周期係数と残差で異常検知できる。</a:t>
            </a:r>
            <a:endParaRPr lang="en-US" sz="1160" dirty="0"/>
          </a:p>
        </p:txBody>
      </p:sp>
      <p:pic>
        <p:nvPicPr>
          <p:cNvPr id="8" name="Image 0" descr="/mnt/data/slide_assets/single_cycle_harmonic_fit_demo_t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2858" y="914400"/>
            <a:ext cx="4107884" cy="3017520"/>
          </a:xfrm>
          <a:prstGeom prst="rect">
            <a:avLst/>
          </a:prstGeom>
        </p:spPr>
      </p:pic>
      <p:pic>
        <p:nvPicPr>
          <p:cNvPr id="9" name="Image 1" descr="/mnt/data/slide_assets/base_waveform_used_t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081" y="4160520"/>
            <a:ext cx="2423279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 背景と課題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778240" y="137160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DCE7F7"/>
                </a:solidFill>
              </a:rPr>
              <a:t>密な波形を取りたいが実際は疎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411480" y="6556248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合成データによる説明資料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5120640" cy="544068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3970" dist="381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841248"/>
            <a:ext cx="4828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前提条件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143000"/>
            <a:ext cx="457200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1サイクルあたり 9〜12 点しか取れない。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各点にはカム角度が付いている。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正常はほぼ同じ動作を繰り返す。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欲しいのは「異常かどうか」と「主因」。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063240"/>
            <a:ext cx="4480560" cy="868680"/>
          </a:xfrm>
          <a:prstGeom prst="roundRect">
            <a:avLst>
              <a:gd name="adj" fmla="val 4211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3154680"/>
            <a:ext cx="422452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難しさ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859536" y="3337560"/>
            <a:ext cx="4224528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密波形をそのまま比較しようとすると、点数が足りず不安定になる。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731520" y="4251960"/>
            <a:ext cx="4480560" cy="960120"/>
          </a:xfrm>
          <a:prstGeom prst="roundRect">
            <a:avLst>
              <a:gd name="adj" fmla="val 3810"/>
            </a:avLst>
          </a:prstGeom>
          <a:solidFill>
            <a:srgbClr val="EAF7EA"/>
          </a:solidFill>
          <a:ln w="12700">
            <a:solidFill>
              <a:srgbClr val="EAF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4343400"/>
            <a:ext cx="422452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発想の転換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859536" y="4526280"/>
            <a:ext cx="4224528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密波形の完全復元ではなく、疎でも安定に取れる少数の特徴量へ圧縮して判定する。</a:t>
            </a:r>
            <a:endParaRPr lang="en-US" sz="1160" dirty="0"/>
          </a:p>
        </p:txBody>
      </p:sp>
      <p:sp>
        <p:nvSpPr>
          <p:cNvPr id="15" name="Shape 13"/>
          <p:cNvSpPr/>
          <p:nvPr/>
        </p:nvSpPr>
        <p:spPr>
          <a:xfrm>
            <a:off x="5806440" y="749808"/>
            <a:ext cx="5897880" cy="5440680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3970" dist="381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52744" y="841248"/>
            <a:ext cx="5605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見たい変化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1097280"/>
            <a:ext cx="2560320" cy="822960"/>
          </a:xfrm>
          <a:prstGeom prst="roundRect">
            <a:avLst>
              <a:gd name="adj" fmla="val 4444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1188720"/>
            <a:ext cx="230428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 上下ずれ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254496" y="1371600"/>
            <a:ext cx="230428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全体が持ち上がる / 下がる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8961120" y="1097280"/>
            <a:ext cx="2423160" cy="822960"/>
          </a:xfrm>
          <a:prstGeom prst="roundRect">
            <a:avLst>
              <a:gd name="adj" fmla="val 4444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89136" y="1188720"/>
            <a:ext cx="216712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 振幅倍率変化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9089136" y="1371600"/>
            <a:ext cx="216712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大きさだけ変わる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6126480" y="2240280"/>
            <a:ext cx="2560320" cy="822960"/>
          </a:xfrm>
          <a:prstGeom prst="roundRect">
            <a:avLst>
              <a:gd name="adj" fmla="val 4444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54496" y="2331720"/>
            <a:ext cx="230428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③ 位相ずれ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6254496" y="2514600"/>
            <a:ext cx="230428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山や谷の位置がずれる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8961120" y="2240280"/>
            <a:ext cx="2423160" cy="822960"/>
          </a:xfrm>
          <a:prstGeom prst="roundRect">
            <a:avLst>
              <a:gd name="adj" fmla="val 4444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89136" y="2331720"/>
            <a:ext cx="216712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④ 成分配分変化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9089136" y="2514600"/>
            <a:ext cx="216712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1〜3次のバランスが変わる</a:t>
            </a:r>
            <a:endParaRPr lang="en-US" sz="1160" dirty="0"/>
          </a:p>
        </p:txBody>
      </p:sp>
      <p:sp>
        <p:nvSpPr>
          <p:cNvPr id="29" name="Shape 27"/>
          <p:cNvSpPr/>
          <p:nvPr/>
        </p:nvSpPr>
        <p:spPr>
          <a:xfrm>
            <a:off x="6126480" y="3383280"/>
            <a:ext cx="5257800" cy="868680"/>
          </a:xfrm>
          <a:prstGeom prst="roundRect">
            <a:avLst>
              <a:gd name="adj" fmla="val 4211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54496" y="3474720"/>
            <a:ext cx="500176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⑤ 局所・高次残差異常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6254496" y="3657600"/>
            <a:ext cx="5001768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低次モデルで説明できない細かい変化</a:t>
            </a:r>
            <a:endParaRPr lang="en-US" sz="1160" dirty="0"/>
          </a:p>
        </p:txBody>
      </p:sp>
      <p:pic>
        <p:nvPicPr>
          <p:cNvPr id="32" name="Image 0" descr="/mnt/data/slide_assets/sampling_positions_arc140_t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0192" y="4526280"/>
            <a:ext cx="1678975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2. 1サイクルで何をするか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778240" y="137160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DCE7F7"/>
                </a:solidFill>
              </a:rPr>
              <a:t>疎サンプル点 → 調和回帰 → 残差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411480" y="6556248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合成データによる説明資料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11247120" cy="5440680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3970" dist="381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841248"/>
            <a:ext cx="10954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1サイクルの図</a:t>
            </a:r>
            <a:endParaRPr lang="en-US" sz="1400" dirty="0"/>
          </a:p>
        </p:txBody>
      </p:sp>
      <p:pic>
        <p:nvPicPr>
          <p:cNvPr id="8" name="Image 0" descr="/mnt/data/slide_assets/single_cycle_harmonic_fit_demo_t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1740" y="1051560"/>
            <a:ext cx="3734440" cy="2743200"/>
          </a:xfrm>
          <a:prstGeom prst="rect">
            <a:avLst/>
          </a:prstGeom>
        </p:spPr>
      </p:pic>
      <p:pic>
        <p:nvPicPr>
          <p:cNvPr id="9" name="Image 1" descr="/mnt/data/slide_assets/single_cycle_residual_demo_t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410" y="4069080"/>
            <a:ext cx="1945100" cy="1325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897880" y="1234440"/>
            <a:ext cx="530352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丸が実際の疎サンプル点。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線が 3次までの調和回帰で当てた近似波形。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低次で説明できる部分は係数側へ、説明できない細かい部分は残差側へ送る。</a:t>
            </a:r>
            <a:endParaRPr lang="en-US" sz="15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0760" y="2834640"/>
            <a:ext cx="4480560" cy="91440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80760" y="3977640"/>
            <a:ext cx="246888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3. なぜ疎でも特徴量ならいけるのか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778240" y="137160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DCE7F7"/>
                </a:solidFill>
              </a:rPr>
              <a:t>完全復元ではなく低次元化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411480" y="6556248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合成データによる説明資料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11247120" cy="5440680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3970" dist="381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841248"/>
            <a:ext cx="10954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考え方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1188720"/>
            <a:ext cx="3200400" cy="1005840"/>
          </a:xfrm>
          <a:prstGeom prst="roundRect">
            <a:avLst>
              <a:gd name="adj" fmla="val 3636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280160"/>
            <a:ext cx="294436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密波形をそのまま当てるのは難しい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50976" y="1463040"/>
            <a:ext cx="2944368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256点波形をそのまま扱うなら自由度が大きすぎる。9〜12点では不安定。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4480560" y="1188720"/>
            <a:ext cx="3108960" cy="1005840"/>
          </a:xfrm>
          <a:prstGeom prst="roundRect">
            <a:avLst>
              <a:gd name="adj" fmla="val 3636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1280160"/>
            <a:ext cx="285292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少数の係数なら現実的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608576" y="1463040"/>
            <a:ext cx="2852928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3次までなら a0 と 6個の sin/cos 係数。自由度を大きく減らせる。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8001000" y="1188720"/>
            <a:ext cx="2834640" cy="1005840"/>
          </a:xfrm>
          <a:prstGeom prst="roundRect">
            <a:avLst>
              <a:gd name="adj" fmla="val 3636"/>
            </a:avLst>
          </a:prstGeom>
          <a:solidFill>
            <a:srgbClr val="EAF7EA"/>
          </a:solidFill>
          <a:ln w="12700">
            <a:solidFill>
              <a:srgbClr val="EAF7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9016" y="1280160"/>
            <a:ext cx="257860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異常検知に必要なのは完全復元ではない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8129016" y="1463040"/>
            <a:ext cx="2578608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正常と異常を分けるのに十分な量が取れればよい。</a:t>
            </a:r>
            <a:endParaRPr lang="en-US" sz="1160" dirty="0"/>
          </a:p>
        </p:txBody>
      </p:sp>
      <p:sp>
        <p:nvSpPr>
          <p:cNvPr id="17" name="Text 15"/>
          <p:cNvSpPr/>
          <p:nvPr/>
        </p:nvSpPr>
        <p:spPr>
          <a:xfrm>
            <a:off x="868680" y="2743200"/>
            <a:ext cx="18288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残す特徴量</a:t>
            </a:r>
            <a:endParaRPr lang="en-US" sz="16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3090672"/>
            <a:ext cx="1417320" cy="914400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37560" y="3090672"/>
            <a:ext cx="1737360" cy="914400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60720" y="3017520"/>
            <a:ext cx="2194560" cy="914400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49640" y="3090672"/>
            <a:ext cx="2194560" cy="9144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502152"/>
            <a:ext cx="4114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振幅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3886200" y="3502152"/>
            <a:ext cx="4114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位相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629400" y="3502152"/>
            <a:ext cx="4114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配分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9464040" y="3502152"/>
            <a:ext cx="4114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残差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868680" y="4114800"/>
            <a:ext cx="1014984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996696" y="4206240"/>
            <a:ext cx="989380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要するに</a:t>
            </a:r>
            <a:endParaRPr lang="en-US" sz="1320" dirty="0"/>
          </a:p>
        </p:txBody>
      </p:sp>
      <p:sp>
        <p:nvSpPr>
          <p:cNvPr id="28" name="Text 22"/>
          <p:cNvSpPr/>
          <p:nvPr/>
        </p:nvSpPr>
        <p:spPr>
          <a:xfrm>
            <a:off x="996696" y="4389120"/>
            <a:ext cx="9893808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この手法の根拠は、「疎データからでも安定に取れる少数の特徴量」に問題を落としていること。保証するのは異常検知に必要な特徴の抽出であり、元の密波形の忠実復元ではない。</a:t>
            </a:r>
            <a:endParaRPr lang="en-US" sz="11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4. 特徴量① 上下ずれ / 振幅変化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778240" y="137160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DCE7F7"/>
                </a:solidFill>
              </a:rPr>
              <a:t>数式と図で見る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411480" y="6556248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合成データによる説明資料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5486400" cy="5440680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3970" dist="381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841248"/>
            <a:ext cx="5193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① 上下ずれ</a:t>
            </a:r>
            <a:endParaRPr lang="en-US" sz="1400" dirty="0"/>
          </a:p>
        </p:txBody>
      </p:sp>
      <p:pic>
        <p:nvPicPr>
          <p:cNvPr id="8" name="Image 0" descr="/mnt/data/slide_assets/feature_level_shift_demo_t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221346"/>
            <a:ext cx="2240280" cy="1681253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54680" y="1417320"/>
            <a:ext cx="2148840" cy="914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3566160"/>
            <a:ext cx="46634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43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a0 が全体の持ち上がり / 下がりを表す。</a:t>
            </a:r>
            <a:endParaRPr lang="en-US" sz="1430" dirty="0"/>
          </a:p>
          <a:p>
            <a:pPr marL="177800" indent="-177800">
              <a:buSzPct val="100000"/>
              <a:buChar char="•"/>
            </a:pPr>
            <a:r>
              <a:rPr lang="en-US" sz="143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RMS は全体強度の変化も補助的に拾う。</a:t>
            </a:r>
            <a:endParaRPr lang="en-US" sz="1430" dirty="0"/>
          </a:p>
        </p:txBody>
      </p:sp>
      <p:sp>
        <p:nvSpPr>
          <p:cNvPr id="11" name="Shape 7"/>
          <p:cNvSpPr/>
          <p:nvPr/>
        </p:nvSpPr>
        <p:spPr>
          <a:xfrm>
            <a:off x="868680" y="4709160"/>
            <a:ext cx="4572000" cy="685800"/>
          </a:xfrm>
          <a:prstGeom prst="roundRect">
            <a:avLst>
              <a:gd name="adj" fmla="val 5333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96696" y="4800600"/>
            <a:ext cx="431596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見る意味</a:t>
            </a:r>
            <a:endParaRPr lang="en-US" sz="1320" dirty="0"/>
          </a:p>
        </p:txBody>
      </p:sp>
      <p:sp>
        <p:nvSpPr>
          <p:cNvPr id="13" name="Text 9"/>
          <p:cNvSpPr/>
          <p:nvPr/>
        </p:nvSpPr>
        <p:spPr>
          <a:xfrm>
            <a:off x="996696" y="4983480"/>
            <a:ext cx="4315968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最も直感的で説明しやすい基礎指標。</a:t>
            </a:r>
            <a:endParaRPr lang="en-US" sz="1160" dirty="0"/>
          </a:p>
        </p:txBody>
      </p:sp>
      <p:sp>
        <p:nvSpPr>
          <p:cNvPr id="14" name="Shape 10"/>
          <p:cNvSpPr/>
          <p:nvPr/>
        </p:nvSpPr>
        <p:spPr>
          <a:xfrm>
            <a:off x="6217920" y="749808"/>
            <a:ext cx="5486400" cy="5440680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3970" dist="3810" dir="27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364224" y="841248"/>
            <a:ext cx="5193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② 次数成分の振幅変化</a:t>
            </a:r>
            <a:endParaRPr lang="en-US" sz="1400" dirty="0"/>
          </a:p>
        </p:txBody>
      </p:sp>
      <p:pic>
        <p:nvPicPr>
          <p:cNvPr id="16" name="Image 2" descr="/mnt/data/slide_assets/feature_amp_scale_demo_ta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1221346"/>
            <a:ext cx="2240280" cy="1681253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42832" y="1261872"/>
            <a:ext cx="1325880" cy="914400"/>
          </a:xfrm>
          <a:prstGeom prst="rect">
            <a:avLst/>
          </a:prstGeom>
        </p:spPr>
      </p:pic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42832" y="2240280"/>
            <a:ext cx="1828800" cy="9144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492240" y="3566160"/>
            <a:ext cx="46177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振幅倍率だけが変わると A1〜A3 はまとめて増減する。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比率ではなく絶対振幅を残すことで、振幅だけの異常を落とさない。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6492240" y="4709160"/>
            <a:ext cx="4617720" cy="685800"/>
          </a:xfrm>
          <a:prstGeom prst="roundRect">
            <a:avLst>
              <a:gd name="adj" fmla="val 5333"/>
            </a:avLst>
          </a:prstGeom>
          <a:solidFill>
            <a:srgbClr val="EAF7EA"/>
          </a:solidFill>
          <a:ln w="12700">
            <a:solidFill>
              <a:srgbClr val="EAF7EA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6620256" y="4800600"/>
            <a:ext cx="436168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見る意味</a:t>
            </a:r>
            <a:endParaRPr lang="en-US" sz="1320" dirty="0"/>
          </a:p>
        </p:txBody>
      </p:sp>
      <p:sp>
        <p:nvSpPr>
          <p:cNvPr id="22" name="Text 15"/>
          <p:cNvSpPr/>
          <p:nvPr/>
        </p:nvSpPr>
        <p:spPr>
          <a:xfrm>
            <a:off x="6620256" y="4983480"/>
            <a:ext cx="4361688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「周波数は同じだが大きさだけ変わる」異常をここで拾う。</a:t>
            </a:r>
            <a:endParaRPr lang="en-US" sz="11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5. 特徴量② 位相変化 / 周波数成分変化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778240" y="137160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DCE7F7"/>
                </a:solidFill>
              </a:rPr>
              <a:t>数式と図で見る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411480" y="6556248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合成データによる説明資料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5486400" cy="5440680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3970" dist="381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841248"/>
            <a:ext cx="5193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③ 次数成分の位相変化</a:t>
            </a:r>
            <a:endParaRPr lang="en-US" sz="1400" dirty="0"/>
          </a:p>
        </p:txBody>
      </p:sp>
      <p:pic>
        <p:nvPicPr>
          <p:cNvPr id="8" name="Image 0" descr="/mnt/data/slide_assets/feature_phase_shift_demo_t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221346"/>
            <a:ext cx="2240280" cy="1681253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54680" y="1234440"/>
            <a:ext cx="1554480" cy="91440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54680" y="2286000"/>
            <a:ext cx="1874520" cy="9144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3547872"/>
            <a:ext cx="46634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41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山や谷の角度位置がずれると位相差に出る。</a:t>
            </a:r>
            <a:endParaRPr lang="en-US" sz="1410" dirty="0"/>
          </a:p>
          <a:p>
            <a:pPr marL="177800" indent="-177800">
              <a:buSzPct val="100000"/>
              <a:buChar char="•"/>
            </a:pPr>
            <a:r>
              <a:rPr lang="en-US" sz="141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359°と1°は近いので、線形差ではなく wrap で扱う。</a:t>
            </a:r>
            <a:endParaRPr lang="en-US" sz="1410" dirty="0"/>
          </a:p>
        </p:txBody>
      </p:sp>
      <p:sp>
        <p:nvSpPr>
          <p:cNvPr id="12" name="Shape 7"/>
          <p:cNvSpPr/>
          <p:nvPr/>
        </p:nvSpPr>
        <p:spPr>
          <a:xfrm>
            <a:off x="868680" y="4709160"/>
            <a:ext cx="4572000" cy="685800"/>
          </a:xfrm>
          <a:prstGeom prst="roundRect">
            <a:avLst>
              <a:gd name="adj" fmla="val 5333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996696" y="4800600"/>
            <a:ext cx="431596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見る意味</a:t>
            </a:r>
            <a:endParaRPr lang="en-US" sz="1320" dirty="0"/>
          </a:p>
        </p:txBody>
      </p:sp>
      <p:sp>
        <p:nvSpPr>
          <p:cNvPr id="14" name="Text 9"/>
          <p:cNvSpPr/>
          <p:nvPr/>
        </p:nvSpPr>
        <p:spPr>
          <a:xfrm>
            <a:off x="996696" y="4983480"/>
            <a:ext cx="4315968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横ずれやタイミングずれを説明しやすい。</a:t>
            </a:r>
            <a:endParaRPr lang="en-US" sz="1160" dirty="0"/>
          </a:p>
        </p:txBody>
      </p:sp>
      <p:sp>
        <p:nvSpPr>
          <p:cNvPr id="15" name="Shape 10"/>
          <p:cNvSpPr/>
          <p:nvPr/>
        </p:nvSpPr>
        <p:spPr>
          <a:xfrm>
            <a:off x="6217920" y="749808"/>
            <a:ext cx="5486400" cy="5440680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3970" dist="3810" dir="2700000">
              <a:srgbClr val="000000">
                <a:alpha val="1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6364224" y="841248"/>
            <a:ext cx="5193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④ 低次の周波数成分変化</a:t>
            </a:r>
            <a:endParaRPr lang="en-US" sz="1400" dirty="0"/>
          </a:p>
        </p:txBody>
      </p:sp>
      <p:pic>
        <p:nvPicPr>
          <p:cNvPr id="17" name="Image 3" descr="/mnt/data/slide_assets/feature_freq_change_demo_tal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1221346"/>
            <a:ext cx="2240280" cy="1681253"/>
          </a:xfrm>
          <a:prstGeom prst="rect">
            <a:avLst/>
          </a:prstGeom>
        </p:spPr>
      </p:pic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32520" y="1417320"/>
            <a:ext cx="2331720" cy="9144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492240" y="3547872"/>
            <a:ext cx="46177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見るのは「どの次数にどれだけ載っているか」の配分。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振幅倍率だけの変化とは分けて、低次の成分構成変化を表す。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6492240" y="4709160"/>
            <a:ext cx="4617720" cy="685800"/>
          </a:xfrm>
          <a:prstGeom prst="roundRect">
            <a:avLst>
              <a:gd name="adj" fmla="val 5333"/>
            </a:avLst>
          </a:prstGeom>
          <a:solidFill>
            <a:srgbClr val="EAF7EA"/>
          </a:solidFill>
          <a:ln w="12700">
            <a:solidFill>
              <a:srgbClr val="EAF7EA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6620256" y="4800600"/>
            <a:ext cx="436168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見る意味</a:t>
            </a:r>
            <a:endParaRPr lang="en-US" sz="1320" dirty="0"/>
          </a:p>
        </p:txBody>
      </p:sp>
      <p:sp>
        <p:nvSpPr>
          <p:cNvPr id="22" name="Text 15"/>
          <p:cNvSpPr/>
          <p:nvPr/>
        </p:nvSpPr>
        <p:spPr>
          <a:xfrm>
            <a:off x="6620256" y="4983480"/>
            <a:ext cx="4361688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低次の周波数成分が入れ替わるような変化をここで拾う。</a:t>
            </a:r>
            <a:endParaRPr lang="en-US" sz="11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6. 特徴量③ 残差異常 + 品質指標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778240" y="137160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DCE7F7"/>
                </a:solidFill>
              </a:rPr>
              <a:t>高次や局所異常は残差側へ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411480" y="6556248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合成データによる説明資料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5486400" cy="5440680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3970" dist="381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841248"/>
            <a:ext cx="5193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⑤ 局所・高次残差異常</a:t>
            </a:r>
            <a:endParaRPr lang="en-US" sz="1400" dirty="0"/>
          </a:p>
        </p:txBody>
      </p:sp>
      <p:pic>
        <p:nvPicPr>
          <p:cNvPr id="8" name="Image 0" descr="/mnt/data/slide_assets/feature_residual_demo_t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221346"/>
            <a:ext cx="2240280" cy="1681253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3240" y="1508760"/>
            <a:ext cx="2240280" cy="914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3566160"/>
            <a:ext cx="46634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3次までで説明できない細かい変化は residual に落ちる。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高次側の変化や局所的な崩れを「異常」として拾う。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68680" y="4709160"/>
            <a:ext cx="4572000" cy="685800"/>
          </a:xfrm>
          <a:prstGeom prst="roundRect">
            <a:avLst>
              <a:gd name="adj" fmla="val 5333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96696" y="4800600"/>
            <a:ext cx="431596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見る意味</a:t>
            </a:r>
            <a:endParaRPr lang="en-US" sz="1320" dirty="0"/>
          </a:p>
        </p:txBody>
      </p:sp>
      <p:sp>
        <p:nvSpPr>
          <p:cNvPr id="13" name="Text 9"/>
          <p:cNvSpPr/>
          <p:nvPr/>
        </p:nvSpPr>
        <p:spPr>
          <a:xfrm>
            <a:off x="996696" y="4983480"/>
            <a:ext cx="4315968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高次成分を厳密同定するより、異常として取りこぼさないことを優先。</a:t>
            </a:r>
            <a:endParaRPr lang="en-US" sz="1160" dirty="0"/>
          </a:p>
        </p:txBody>
      </p:sp>
      <p:sp>
        <p:nvSpPr>
          <p:cNvPr id="14" name="Shape 10"/>
          <p:cNvSpPr/>
          <p:nvPr/>
        </p:nvSpPr>
        <p:spPr>
          <a:xfrm>
            <a:off x="6217920" y="749808"/>
            <a:ext cx="5486400" cy="5440680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3970" dist="3810" dir="27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364224" y="841248"/>
            <a:ext cx="5193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品質指標は別で持つ</a:t>
            </a:r>
            <a:endParaRPr lang="en-US" sz="1400" dirty="0"/>
          </a:p>
        </p:txBody>
      </p:sp>
      <p:pic>
        <p:nvPicPr>
          <p:cNvPr id="16" name="Image 2" descr="/mnt/data/slide_assets/sampling_positions_arc140_ta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1146105"/>
            <a:ext cx="2377440" cy="1877455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98280" y="1417320"/>
            <a:ext cx="1737360" cy="914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92240" y="3520440"/>
            <a:ext cx="45720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点数 n_obs だけでは足りない。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重要なのは「1サイクルのどれだけ広い範囲が見えているか」。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coverage と max_gap は異常スコアとは別で監視する。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492240" y="4709160"/>
            <a:ext cx="4617720" cy="685800"/>
          </a:xfrm>
          <a:prstGeom prst="roundRect">
            <a:avLst>
              <a:gd name="adj" fmla="val 5333"/>
            </a:avLst>
          </a:prstGeom>
          <a:solidFill>
            <a:srgbClr val="EAF7EA"/>
          </a:solidFill>
          <a:ln w="12700">
            <a:solidFill>
              <a:srgbClr val="EAF7EA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620256" y="4800600"/>
            <a:ext cx="436168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見る意味</a:t>
            </a:r>
            <a:endParaRPr lang="en-US" sz="1320" dirty="0"/>
          </a:p>
        </p:txBody>
      </p:sp>
      <p:sp>
        <p:nvSpPr>
          <p:cNvPr id="21" name="Text 15"/>
          <p:cNvSpPr/>
          <p:nvPr/>
        </p:nvSpPr>
        <p:spPr>
          <a:xfrm>
            <a:off x="6620256" y="4983480"/>
            <a:ext cx="4361688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coverage が悪いときは異常判定ではなく保留や注意表示を入れる。</a:t>
            </a:r>
            <a:endParaRPr lang="en-US" sz="11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7. 判定ロジック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778240" y="137160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DCE7F7"/>
                </a:solidFill>
              </a:rPr>
              <a:t>各群は距離、最後は最大値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411480" y="6556248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合成データによる説明資料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5394960" cy="544068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3970" dist="381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841248"/>
            <a:ext cx="5102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群ごとの判定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8680" y="1417320"/>
            <a:ext cx="2743200" cy="914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423160"/>
            <a:ext cx="45720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各特徴量群に対して、正常の中心 μ と広がり Σ を fit データで学習する。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群ごとのスコアはロバスト・マハラノビス距離で計算する。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各群の次元が小さいので、そのまま距離で判定しやすい。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914400" y="3886200"/>
            <a:ext cx="4389120" cy="841248"/>
          </a:xfrm>
          <a:prstGeom prst="roundRect">
            <a:avLst>
              <a:gd name="adj" fmla="val 4348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3977640"/>
            <a:ext cx="413308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群の例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1042416" y="4160520"/>
            <a:ext cx="413308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level / amp / phase / freq / resid</a:t>
            </a:r>
            <a:endParaRPr lang="en-US" sz="1160" dirty="0"/>
          </a:p>
        </p:txBody>
      </p:sp>
      <p:sp>
        <p:nvSpPr>
          <p:cNvPr id="13" name="Shape 10"/>
          <p:cNvSpPr/>
          <p:nvPr/>
        </p:nvSpPr>
        <p:spPr>
          <a:xfrm>
            <a:off x="6217920" y="749808"/>
            <a:ext cx="5486400" cy="5440680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3970" dist="3810" dir="27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364224" y="841248"/>
            <a:ext cx="5193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最終判定</a:t>
            </a:r>
            <a:endParaRPr lang="en-US" sz="14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2240" y="1389888"/>
            <a:ext cx="4663440" cy="9144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92240" y="2514600"/>
            <a:ext cx="45720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「どれか1本が危険なら異常」に合わせて、和ではなく最大値を使う。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異常時には、最大だった群を主因ラベルとして記録する。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品質指標が悪いサイクルは、異常とは別に保留や注意表示を入れる。</a:t>
            </a:r>
            <a:endParaRPr lang="en-US" sz="1420" dirty="0"/>
          </a:p>
        </p:txBody>
      </p:sp>
      <p:sp>
        <p:nvSpPr>
          <p:cNvPr id="17" name="Shape 13"/>
          <p:cNvSpPr/>
          <p:nvPr/>
        </p:nvSpPr>
        <p:spPr>
          <a:xfrm>
            <a:off x="6537960" y="3977640"/>
            <a:ext cx="4663440" cy="868680"/>
          </a:xfrm>
          <a:prstGeom prst="roundRect">
            <a:avLst>
              <a:gd name="adj" fmla="val 4211"/>
            </a:avLst>
          </a:prstGeom>
          <a:solidFill>
            <a:srgbClr val="EAF7EA"/>
          </a:solidFill>
          <a:ln w="12700">
            <a:solidFill>
              <a:srgbClr val="EAF7E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665976" y="4069080"/>
            <a:ext cx="440740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分割</a:t>
            </a:r>
            <a:endParaRPr lang="en-US" sz="1320" dirty="0"/>
          </a:p>
        </p:txBody>
      </p:sp>
      <p:sp>
        <p:nvSpPr>
          <p:cNvPr id="19" name="Text 15"/>
          <p:cNvSpPr/>
          <p:nvPr/>
        </p:nvSpPr>
        <p:spPr>
          <a:xfrm>
            <a:off x="6665976" y="4251960"/>
            <a:ext cx="4407408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fit: 正常のみ / threshold: 正常のみ / test: 正常 + 異常</a:t>
            </a:r>
            <a:endParaRPr lang="en-US" sz="11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8. 検証設定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778240" y="137160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DCE7F7"/>
                </a:solidFill>
              </a:rPr>
              <a:t>良い条件 / 悪い条件を切り分けて確認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411480" y="6556248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合成データによる説明資料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5486400" cy="5440680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3970" dist="381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841248"/>
            <a:ext cx="5193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良い条件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1078992"/>
            <a:ext cx="21945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48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1サイクル 9〜12 点</a:t>
            </a:r>
            <a:endParaRPr lang="en-US" sz="1480" dirty="0"/>
          </a:p>
          <a:p>
            <a:pPr marL="177800" indent="-177800">
              <a:buSzPct val="100000"/>
              <a:buChar char="•"/>
            </a:pPr>
            <a:r>
              <a:rPr lang="en-US" sz="148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max_gap = 72°</a:t>
            </a:r>
            <a:endParaRPr lang="en-US" sz="1480" dirty="0"/>
          </a:p>
          <a:p>
            <a:pPr marL="177800" indent="-177800">
              <a:buSzPct val="100000"/>
              <a:buChar char="•"/>
            </a:pPr>
            <a:r>
              <a:rPr lang="en-US" sz="148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coverage = 0.80</a:t>
            </a:r>
            <a:endParaRPr lang="en-US" sz="1480" dirty="0"/>
          </a:p>
          <a:p>
            <a:pPr marL="177800" indent="-177800">
              <a:buSzPct val="100000"/>
              <a:buChar char="•"/>
            </a:pPr>
            <a:r>
              <a:rPr lang="en-US" sz="148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角度点はサイクル全体を見ている</a:t>
            </a:r>
            <a:endParaRPr lang="en-US" sz="1480" dirty="0"/>
          </a:p>
        </p:txBody>
      </p:sp>
      <p:pic>
        <p:nvPicPr>
          <p:cNvPr id="9" name="Image 0" descr="/mnt/data/slide_assets/sampling_positions_covfix_uniform_t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2581713"/>
            <a:ext cx="2377440" cy="187745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17920" y="749808"/>
            <a:ext cx="5486400" cy="5440680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3970" dist="3810" dir="27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64224" y="841248"/>
            <a:ext cx="5193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悪い条件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92240" y="1078992"/>
            <a:ext cx="42976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点数はほぼ同じ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coverage を 0.75 / 0.55 / 0.35 へ落とす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間隔の不ぞろいと coverage を分けて比較する</a:t>
            </a:r>
            <a:endParaRPr lang="en-US" sz="1420" dirty="0"/>
          </a:p>
        </p:txBody>
      </p:sp>
      <p:pic>
        <p:nvPicPr>
          <p:cNvPr id="13" name="Image 1" descr="/mnt/data/slide_assets/sampling_positions_arc300_t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083455"/>
            <a:ext cx="2148840" cy="1696930"/>
          </a:xfrm>
          <a:prstGeom prst="rect">
            <a:avLst/>
          </a:prstGeom>
        </p:spPr>
      </p:pic>
      <p:pic>
        <p:nvPicPr>
          <p:cNvPr id="14" name="Image 2" descr="/mnt/data/slide_assets/sampling_positions_arc140_t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3083455"/>
            <a:ext cx="2148840" cy="16969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9. 良い条件での結果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778240" y="137160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DCE7F7"/>
                </a:solidFill>
              </a:rPr>
              <a:t>coverage が十分なら高い検知率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411480" y="6556248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合成データによる説明資料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3291840" cy="54406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3970" dist="381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841248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主要指標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" y="1143000"/>
            <a:ext cx="2697480" cy="777240"/>
          </a:xfrm>
          <a:prstGeom prst="roundRect">
            <a:avLst>
              <a:gd name="adj" fmla="val 4706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234440"/>
            <a:ext cx="24414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accuracy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877824" y="1417320"/>
            <a:ext cx="2441448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0.948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749808" y="2148840"/>
            <a:ext cx="2697480" cy="777240"/>
          </a:xfrm>
          <a:prstGeom prst="roundRect">
            <a:avLst>
              <a:gd name="adj" fmla="val 4706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240280"/>
            <a:ext cx="24414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precision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877824" y="2423160"/>
            <a:ext cx="2441448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0.953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749808" y="3154680"/>
            <a:ext cx="2697480" cy="777240"/>
          </a:xfrm>
          <a:prstGeom prst="roundRect">
            <a:avLst>
              <a:gd name="adj" fmla="val 4706"/>
            </a:avLst>
          </a:prstGeom>
          <a:solidFill>
            <a:srgbClr val="EAF7EA"/>
          </a:solidFill>
          <a:ln w="12700">
            <a:solidFill>
              <a:srgbClr val="EAF7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246120"/>
            <a:ext cx="24414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recall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877824" y="3429000"/>
            <a:ext cx="2441448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0.967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749808" y="4160520"/>
            <a:ext cx="2697480" cy="777240"/>
          </a:xfrm>
          <a:prstGeom prst="roundRect">
            <a:avLst>
              <a:gd name="adj" fmla="val 4706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4251960"/>
            <a:ext cx="24414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F1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77824" y="4434840"/>
            <a:ext cx="2441448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0.960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3977640" y="749808"/>
            <a:ext cx="3657600" cy="54406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3970" dist="381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23944" y="84124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総合スコア</a:t>
            </a:r>
            <a:endParaRPr lang="en-US" sz="1400" dirty="0"/>
          </a:p>
        </p:txBody>
      </p:sp>
      <p:pic>
        <p:nvPicPr>
          <p:cNvPr id="22" name="Image 0" descr="/mnt/data/slide_assets/total_score_covfix_uniform_t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2001949"/>
            <a:ext cx="2926080" cy="1994566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7845552" y="749808"/>
            <a:ext cx="3886200" cy="544068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3970" dist="3810" dir="27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991856" y="841248"/>
            <a:ext cx="3593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ラベル別の傾向</a:t>
            </a:r>
            <a:endParaRPr lang="en-US" sz="1400" dirty="0"/>
          </a:p>
        </p:txBody>
      </p:sp>
      <p:pic>
        <p:nvPicPr>
          <p:cNvPr id="25" name="Image 1" descr="/mnt/data/slide_assets/labelwise_detection_covfix_uniform_t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942535"/>
            <a:ext cx="3108960" cy="21133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10. 何が効くかを分離して比較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778240" y="137160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DCE7F7"/>
                </a:solidFill>
              </a:rPr>
              <a:t>間隔より coverage が効く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411480" y="6556248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合成データによる説明資料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5486400" cy="5440680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3970" dist="381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841248"/>
            <a:ext cx="5193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比較A: 同じ coverage、違う間隔</a:t>
            </a:r>
            <a:endParaRPr lang="en-US" sz="1400" dirty="0"/>
          </a:p>
        </p:txBody>
      </p:sp>
      <p:pic>
        <p:nvPicPr>
          <p:cNvPr id="8" name="Image 0" descr="/mnt/data/slide_assets/same_coverage_irregularity_compare_t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62277"/>
            <a:ext cx="2926080" cy="1847447"/>
          </a:xfrm>
          <a:prstGeom prst="rect">
            <a:avLst/>
          </a:prstGeom>
        </p:spPr>
      </p:pic>
      <p:pic>
        <p:nvPicPr>
          <p:cNvPr id="9" name="Image 1" descr="/mnt/data/slide_assets/sampling_positions_covfix_irregular_t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522" y="3657600"/>
            <a:ext cx="2489515" cy="19659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94760" y="1280160"/>
            <a:ext cx="18288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uniform recall = 0.967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irregular recall = 0.944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coverage が同じなら、間隔の不ぞろいの影響は小さい。</a:t>
            </a:r>
            <a:endParaRPr lang="en-US" sz="1420" dirty="0"/>
          </a:p>
        </p:txBody>
      </p:sp>
      <p:sp>
        <p:nvSpPr>
          <p:cNvPr id="11" name="Shape 7"/>
          <p:cNvSpPr/>
          <p:nvPr/>
        </p:nvSpPr>
        <p:spPr>
          <a:xfrm>
            <a:off x="6217920" y="749808"/>
            <a:ext cx="5486400" cy="5440680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3970" dist="3810" dir="27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364224" y="841248"/>
            <a:ext cx="5193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比較B: coverage を落とす</a:t>
            </a:r>
            <a:endParaRPr lang="en-US" sz="1400" dirty="0"/>
          </a:p>
        </p:txBody>
      </p:sp>
      <p:pic>
        <p:nvPicPr>
          <p:cNvPr id="13" name="Image 2" descr="/mnt/data/slide_assets/coverage_only_compare_t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368386"/>
            <a:ext cx="2926080" cy="1835229"/>
          </a:xfrm>
          <a:prstGeom prst="rect">
            <a:avLst/>
          </a:prstGeom>
        </p:spPr>
      </p:pic>
      <p:pic>
        <p:nvPicPr>
          <p:cNvPr id="14" name="Image 3" descr="/mnt/data/slide_assets/sampling_positions_arc140_ta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0522" y="3657600"/>
            <a:ext cx="2489515" cy="19659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464040" y="1188720"/>
            <a:ext cx="18288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coverage 0.75 → recall 0.994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coverage 0.55 → recall 0.528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coverage 0.35 → recall 0.375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主因は coverage の不足。</a:t>
            </a:r>
            <a:endParaRPr lang="en-US" sz="13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11. 上司向けの結論と次のアクション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778240" y="137160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DCE7F7"/>
                </a:solidFill>
              </a:rPr>
              <a:t>まずはこの条件で導入可否を判断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411480" y="6556248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合成データによる説明資料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5394960" cy="544068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3970" dist="381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841248"/>
            <a:ext cx="5102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上司向けの結論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466344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この手法で重要なのは</a:t>
            </a:r>
            <a:endParaRPr lang="en-US" sz="2100" dirty="0"/>
          </a:p>
          <a:p>
            <a:pPr algn="ctr" indent="0" marL="0">
              <a:buNone/>
            </a:pP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「点が少ないこと」そのものより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「1サイクルのどれだけ広い角度範囲を見ているか」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である。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77240" y="4160520"/>
            <a:ext cx="4572000" cy="1005840"/>
          </a:xfrm>
          <a:prstGeom prst="roundRect">
            <a:avLst>
              <a:gd name="adj" fmla="val 3636"/>
            </a:avLst>
          </a:prstGeom>
          <a:solidFill>
            <a:srgbClr val="EAF7EA"/>
          </a:solidFill>
          <a:ln w="12700">
            <a:solidFill>
              <a:srgbClr val="EAF7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4251960"/>
            <a:ext cx="431596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一言でいうと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905256" y="4434840"/>
            <a:ext cx="4315968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疎でも、サイクル全体をある程度カバーしていれば、低次の周期係数と残差で異常検知できる。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6126480" y="749808"/>
            <a:ext cx="5577840" cy="5440680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3970" dist="381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72784" y="841248"/>
            <a:ext cx="5285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次のアクション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1234440"/>
            <a:ext cx="5029200" cy="658368"/>
          </a:xfrm>
          <a:prstGeom prst="roundRect">
            <a:avLst>
              <a:gd name="adj" fmla="val 5556"/>
            </a:avLst>
          </a:prstGeom>
          <a:solidFill>
            <a:srgbClr val="EFF4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5392" y="1444752"/>
            <a:ext cx="46634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4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Step 1: 実データで coverage / max_gap の実態を調査</a:t>
            </a:r>
            <a:endParaRPr lang="en-US" sz="1540" dirty="0"/>
          </a:p>
        </p:txBody>
      </p:sp>
      <p:sp>
        <p:nvSpPr>
          <p:cNvPr id="16" name="Shape 14"/>
          <p:cNvSpPr/>
          <p:nvPr/>
        </p:nvSpPr>
        <p:spPr>
          <a:xfrm>
            <a:off x="6400800" y="2194560"/>
            <a:ext cx="5029200" cy="658368"/>
          </a:xfrm>
          <a:prstGeom prst="roundRect">
            <a:avLst>
              <a:gd name="adj" fmla="val 5556"/>
            </a:avLst>
          </a:prstGeom>
          <a:solidFill>
            <a:srgbClr val="F8FAFD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2404872"/>
            <a:ext cx="46634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4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Step 2: fit / threshold / test に分けて同じ枠組みで再評価</a:t>
            </a:r>
            <a:endParaRPr lang="en-US" sz="1540" dirty="0"/>
          </a:p>
        </p:txBody>
      </p:sp>
      <p:sp>
        <p:nvSpPr>
          <p:cNvPr id="18" name="Shape 16"/>
          <p:cNvSpPr/>
          <p:nvPr/>
        </p:nvSpPr>
        <p:spPr>
          <a:xfrm>
            <a:off x="6400800" y="3154680"/>
            <a:ext cx="5029200" cy="658368"/>
          </a:xfrm>
          <a:prstGeom prst="roundRect">
            <a:avLst>
              <a:gd name="adj" fmla="val 5556"/>
            </a:avLst>
          </a:prstGeom>
          <a:solidFill>
            <a:srgbClr val="EFF4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5392" y="3364992"/>
            <a:ext cx="46634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4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Step 3: coverage が悪いサイクルの保留条件を決める</a:t>
            </a:r>
            <a:endParaRPr lang="en-US" sz="1540" dirty="0"/>
          </a:p>
        </p:txBody>
      </p:sp>
      <p:sp>
        <p:nvSpPr>
          <p:cNvPr id="20" name="Shape 18"/>
          <p:cNvSpPr/>
          <p:nvPr/>
        </p:nvSpPr>
        <p:spPr>
          <a:xfrm>
            <a:off x="6400800" y="4114800"/>
            <a:ext cx="5029200" cy="658368"/>
          </a:xfrm>
          <a:prstGeom prst="roundRect">
            <a:avLst>
              <a:gd name="adj" fmla="val 5556"/>
            </a:avLst>
          </a:prstGeom>
          <a:solidFill>
            <a:srgbClr val="F8FAFD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65392" y="4325112"/>
            <a:ext cx="46634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4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Step 4: 必要なら coverage が悪い時だけ別処理を追加</a:t>
            </a:r>
            <a:endParaRPr lang="en-US" sz="15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OpenAI</dc:creator>
  <cp:lastModifiedBy>OpenAI</cp:lastModifiedBy>
  <cp:revision>1</cp:revision>
  <dcterms:created xsi:type="dcterms:W3CDTF">2026-03-08T09:51:02Z</dcterms:created>
  <dcterms:modified xsi:type="dcterms:W3CDTF">2026-03-08T09:51:02Z</dcterms:modified>
</cp:coreProperties>
</file>